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28da6ec4bd45d1" /><Relationship Type="http://schemas.openxmlformats.org/officeDocument/2006/relationships/extended-properties" Target="/docProps/app.xml" Id="Rbf122ecbde0e4ae8" /><Relationship Type="http://schemas.openxmlformats.org/officeDocument/2006/relationships/officeDocument" Target="/ppt/presentation.xml" Id="Rcde273b866a741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f3ab4900364716"/>
  </p:sldMasterIdLst>
  <p:notesMasterIdLst>
    <p:notesMasterId xmlns:r="http://schemas.openxmlformats.org/officeDocument/2006/relationships" r:id="Rfd1d5c1a282f4ef6"/>
  </p:notesMasterIdLst>
  <p:sldIdLst>
    <p:sldId xmlns:r="http://schemas.openxmlformats.org/officeDocument/2006/relationships" id="256" r:id="Ra7456069608c4c4f"/>
    <p:sldId xmlns:r="http://schemas.openxmlformats.org/officeDocument/2006/relationships" id="257" r:id="Re2565f8677774397"/>
    <p:sldId xmlns:r="http://schemas.openxmlformats.org/officeDocument/2006/relationships" id="258" r:id="Rc0476839d3fe48da"/>
    <p:sldId xmlns:r="http://schemas.openxmlformats.org/officeDocument/2006/relationships" id="259" r:id="R0d74f984331049d0"/>
    <p:sldId xmlns:r="http://schemas.openxmlformats.org/officeDocument/2006/relationships" id="260" r:id="R7599d169f4e24fb7"/>
    <p:sldId xmlns:r="http://schemas.openxmlformats.org/officeDocument/2006/relationships" id="261" r:id="R8cd57f3ea8df409d"/>
    <p:sldId xmlns:r="http://schemas.openxmlformats.org/officeDocument/2006/relationships" id="262" r:id="R0cd0a5682d664c05"/>
    <p:sldId xmlns:r="http://schemas.openxmlformats.org/officeDocument/2006/relationships" id="263" r:id="R9d71f5701bbf4e47"/>
    <p:sldId xmlns:r="http://schemas.openxmlformats.org/officeDocument/2006/relationships" id="264" r:id="R7bddbec4f6164fa4"/>
    <p:sldId xmlns:r="http://schemas.openxmlformats.org/officeDocument/2006/relationships" id="265" r:id="R936105f7e1ee4bbc"/>
    <p:sldId xmlns:r="http://schemas.openxmlformats.org/officeDocument/2006/relationships" id="266" r:id="R70ba4a7fd9ce407c"/>
    <p:sldId xmlns:r="http://schemas.openxmlformats.org/officeDocument/2006/relationships" id="267" r:id="R866637e0d42d444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9c166719f24fd6" /><Relationship Type="http://schemas.openxmlformats.org/officeDocument/2006/relationships/slideMaster" Target="/ppt/slideMasters/slideMaster1.xml" Id="Raff3ab4900364716" /><Relationship Type="http://schemas.openxmlformats.org/officeDocument/2006/relationships/notesMaster" Target="/ppt/notesMasters/notesMaster1.xml" Id="Rfd1d5c1a282f4ef6" /><Relationship Type="http://schemas.openxmlformats.org/officeDocument/2006/relationships/presProps" Target="/ppt/presProps.xml" Id="R98778790aefb49cc" /><Relationship Type="http://schemas.openxmlformats.org/officeDocument/2006/relationships/tableStyles" Target="/ppt/tableStyles.xml" Id="R7f1334a2511744e7" /><Relationship Type="http://schemas.openxmlformats.org/officeDocument/2006/relationships/slide" Target="/ppt/slides/slide1.xml" Id="Ra7456069608c4c4f" /><Relationship Type="http://schemas.openxmlformats.org/officeDocument/2006/relationships/slide" Target="/ppt/slides/slide2.xml" Id="Re2565f8677774397" /><Relationship Type="http://schemas.openxmlformats.org/officeDocument/2006/relationships/slide" Target="/ppt/slides/slide3.xml" Id="Rc0476839d3fe48da" /><Relationship Type="http://schemas.openxmlformats.org/officeDocument/2006/relationships/slide" Target="/ppt/slides/slide4.xml" Id="R0d74f984331049d0" /><Relationship Type="http://schemas.openxmlformats.org/officeDocument/2006/relationships/slide" Target="/ppt/slides/slide5.xml" Id="R7599d169f4e24fb7" /><Relationship Type="http://schemas.openxmlformats.org/officeDocument/2006/relationships/slide" Target="/ppt/slides/slide6.xml" Id="R8cd57f3ea8df409d" /><Relationship Type="http://schemas.openxmlformats.org/officeDocument/2006/relationships/slide" Target="/ppt/slides/slide7.xml" Id="R0cd0a5682d664c05" /><Relationship Type="http://schemas.openxmlformats.org/officeDocument/2006/relationships/slide" Target="/ppt/slides/slide8.xml" Id="R9d71f5701bbf4e47" /><Relationship Type="http://schemas.openxmlformats.org/officeDocument/2006/relationships/slide" Target="/ppt/slides/slide9.xml" Id="R7bddbec4f6164fa4" /><Relationship Type="http://schemas.openxmlformats.org/officeDocument/2006/relationships/slide" Target="/ppt/slides/slide10.xml" Id="R936105f7e1ee4bbc" /><Relationship Type="http://schemas.openxmlformats.org/officeDocument/2006/relationships/slide" Target="/ppt/slides/slide11.xml" Id="R70ba4a7fd9ce407c" /><Relationship Type="http://schemas.openxmlformats.org/officeDocument/2006/relationships/slide" Target="/ppt/slides/slide12.xml" Id="R866637e0d42d44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1179853184b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4539d4c604026" /><Relationship Type="http://schemas.openxmlformats.org/officeDocument/2006/relationships/notesMaster" Target="/ppt/notesMasters/notesMaster1.xml" Id="Rb1430eb84d5343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34d3a9ef8b4d80" /><Relationship Type="http://schemas.openxmlformats.org/officeDocument/2006/relationships/notesMaster" Target="/ppt/notesMasters/notesMaster1.xml" Id="R8500a2c377ac49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5a9c844938419a" /><Relationship Type="http://schemas.openxmlformats.org/officeDocument/2006/relationships/notesMaster" Target="/ppt/notesMasters/notesMaster1.xml" Id="R00f997e13f1548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df381378384714" /><Relationship Type="http://schemas.openxmlformats.org/officeDocument/2006/relationships/notesMaster" Target="/ppt/notesMasters/notesMaster1.xml" Id="R35ed071deb7946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cdcab432024c10" /><Relationship Type="http://schemas.openxmlformats.org/officeDocument/2006/relationships/notesMaster" Target="/ppt/notesMasters/notesMaster1.xml" Id="R3599d983908b41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64901786b1476b" /><Relationship Type="http://schemas.openxmlformats.org/officeDocument/2006/relationships/notesMaster" Target="/ppt/notesMasters/notesMaster1.xml" Id="Ra3e6879348a4492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8e96d7faf74eec" /><Relationship Type="http://schemas.openxmlformats.org/officeDocument/2006/relationships/notesMaster" Target="/ppt/notesMasters/notesMaster1.xml" Id="R2fa072013917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a2a73035064026" /><Relationship Type="http://schemas.openxmlformats.org/officeDocument/2006/relationships/notesMaster" Target="/ppt/notesMasters/notesMaster1.xml" Id="R493ae74f39d34d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a86c176d05498e" /><Relationship Type="http://schemas.openxmlformats.org/officeDocument/2006/relationships/notesMaster" Target="/ppt/notesMasters/notesMaster1.xml" Id="R44d4d65b1bc640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e5499008404321" /><Relationship Type="http://schemas.openxmlformats.org/officeDocument/2006/relationships/notesMaster" Target="/ppt/notesMasters/notesMaster1.xml" Id="Ra6f9781dce2a44c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b9eb005edfe4703" /><Relationship Type="http://schemas.openxmlformats.org/officeDocument/2006/relationships/notesMaster" Target="/ppt/notesMasters/notesMaster1.xml" Id="Rbef6a1cf5dde48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25b621bde44a2d" /><Relationship Type="http://schemas.openxmlformats.org/officeDocument/2006/relationships/notesMaster" Target="/ppt/notesMasters/notesMaster1.xml" Id="R8557c8439651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fd44a1e9d4e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f91cc377e0436c" /><Relationship Type="http://schemas.openxmlformats.org/officeDocument/2006/relationships/slideLayout" Target="/ppt/slideLayouts/slideLayout1.xml" Id="Rc2e9cccd560a4b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e9cccd560a4b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71ef267e24d76" /><Relationship Type="http://schemas.openxmlformats.org/officeDocument/2006/relationships/notesSlide" Target="/ppt/notesSlides/notesSlide1.xml" Id="R8ce7744ce85046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0936894264efd" /><Relationship Type="http://schemas.openxmlformats.org/officeDocument/2006/relationships/notesSlide" Target="/ppt/notesSlides/notesSlide2.xml" Id="Rf3f3931311ad48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613383e604229" /><Relationship Type="http://schemas.openxmlformats.org/officeDocument/2006/relationships/notesSlide" Target="/ppt/notesSlides/notesSlide3.xml" Id="R18b1027f366442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bcc95231b43ed" /><Relationship Type="http://schemas.openxmlformats.org/officeDocument/2006/relationships/image" Target="/ppt/media/image.png" Id="R00ae011aba81406f" /><Relationship Type="http://schemas.openxmlformats.org/officeDocument/2006/relationships/notesSlide" Target="/ppt/notesSlides/notesSlide4.xml" Id="R1f205b8683fe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b4d7449f2477c" /><Relationship Type="http://schemas.openxmlformats.org/officeDocument/2006/relationships/notesSlide" Target="/ppt/notesSlides/notesSlide5.xml" Id="Re647329ea5a147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5e1fc94e14b27" /><Relationship Type="http://schemas.openxmlformats.org/officeDocument/2006/relationships/notesSlide" Target="/ppt/notesSlides/notesSlide6.xml" Id="R355f9b970f3e4b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c89b5f4234c0d" /><Relationship Type="http://schemas.openxmlformats.org/officeDocument/2006/relationships/notesSlide" Target="/ppt/notesSlides/notesSlide7.xml" Id="Rdfc8cfd91e714e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3f93554bb44f5" /><Relationship Type="http://schemas.openxmlformats.org/officeDocument/2006/relationships/notesSlide" Target="/ppt/notesSlides/notesSlide8.xml" Id="Rc845f7f9659244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d0c3c7c584a1b" /><Relationship Type="http://schemas.openxmlformats.org/officeDocument/2006/relationships/notesSlide" Target="/ppt/notesSlides/notesSlide9.xml" Id="R6e848d5691e546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05878dd4642f7" /><Relationship Type="http://schemas.openxmlformats.org/officeDocument/2006/relationships/notesSlide" Target="/ppt/notesSlides/notesSlide10.xml" Id="R92b94cef6f1843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703dafa2d4d48" /><Relationship Type="http://schemas.openxmlformats.org/officeDocument/2006/relationships/notesSlide" Target="/ppt/notesSlides/notesSlide11.xml" Id="R49f3b9bcd6714a3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a71725d3f4684" /><Relationship Type="http://schemas.openxmlformats.org/officeDocument/2006/relationships/notesSlide" Target="/ppt/notesSlides/notesSlide12.xml" Id="R3f79c3c8c7d9423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F71A07AC-BE19-4255-8036-6374621B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AgentA3
个性化学习多智能体系统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AD8D38CA-83DB-48FF-B341-9DB5C4FC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 Python 知识库出发，把画像、资源、路径与考试反馈做成可验证闭环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30380CB-E836-4482-8C83-9FE2EA47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第十五届中国软件杯 · A3</a:t>
            </a:r>
          </a:p>
        </p:txBody>
      </p:sp>
      <p:sp>
        <p:nvSpPr>
          <p:cNvPr id="4" name="cover-watermark">
            <a:extLst xmlns:a="http://schemas.openxmlformats.org/drawingml/2006/main">
              <a:ext uri="{FF2B5EF4-FFF2-40B4-BE49-F238E27FC236}">
                <a16:creationId xmlns:a16="http://schemas.microsoft.com/office/drawing/2014/main" id="{02750CEB-95A0-47A9-BF6B-2E78963E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190625"/>
            <a:ext cx="2047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0" b="1">
                <a:solidFill>
                  <a:srgbClr val="E7F4F4"/>
                </a:solidFill>
                <a:latin typeface="PingFang SC"/>
                <a:ea typeface="PingFang SC"/>
                <a:cs typeface="PingFang SC"/>
              </a:defRPr>
            </a:pPr>
            <a:r>
              <a:rPr sz="8400" b="1">
                <a:solidFill>
                  <a:srgbClr val="E7F4F4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  <p:sp>
        <p:nvSpPr>
          <p:cNvPr id="5" name="cover-proof-bg">
            <a:extLst xmlns:a="http://schemas.openxmlformats.org/drawingml/2006/main">
              <a:ext uri="{FF2B5EF4-FFF2-40B4-BE49-F238E27FC236}">
                <a16:creationId xmlns:a16="http://schemas.microsoft.com/office/drawing/2014/main" id="{9A6B529E-59F2-4DF0-8766-5CD39E47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3429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7F4F4"/>
          </a:solidFill>
          <a:ln xmlns:a="http://schemas.openxmlformats.org/drawingml/2006/main" w="9525">
            <a:solidFill>
              <a:srgbClr val="007C83"/>
            </a:solidFill>
            <a:prstDash val="solid"/>
          </a:ln>
        </p:spPr>
      </p:sp>
      <p:sp>
        <p:nvSpPr>
          <p:cNvPr id="6" name="cover-proof">
            <a:extLst xmlns:a="http://schemas.openxmlformats.org/drawingml/2006/main">
              <a:ext uri="{FF2B5EF4-FFF2-40B4-BE49-F238E27FC236}">
                <a16:creationId xmlns:a16="http://schemas.microsoft.com/office/drawing/2014/main" id="{AF969A90-0D9D-4068-B619-D3C7D077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28637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7C8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7C83"/>
                </a:solidFill>
                <a:latin typeface="PingFang SC"/>
                <a:ea typeface="PingFang SC"/>
                <a:cs typeface="PingFang SC"/>
              </a:rPr>
              <a:t>可运行 · 可追踪 · 可复验</a:t>
            </a:r>
          </a:p>
        </p:txBody>
      </p:sp>
    </p:spTree>
    <p:extLst>
      <p:ext uri="{BB962C8B-B14F-4D97-AF65-F5344CB8AC3E}">
        <p14:creationId xmlns:p14="http://schemas.microsoft.com/office/powerpoint/2010/main" val="6703244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920904C-E62B-4C02-96B0-ABC804B9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A4F2D49C-E850-41A7-9416-B74E24C9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高校个性化学习的矛盾，不是“资源少”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B3ED8CC9-1982-43FC-9FBE-ADA79F4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7F81619-78B6-47B1-B423-085F3513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传统系统：资源堆叠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812B9979-1955-431D-9D7B-63CC1238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同一内容推给所有人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错题与画像脱节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生成结果不可复验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20199ECB-452C-48DF-8777-4295132C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657F665A-5DB5-4A06-841D-0FA5F42B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AgentA3：证据闭环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6243EB2-718C-486C-AA61-A078A41D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对话形成动态画像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六智能体协同生产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考试反馈驱动重规划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3CA409AA-57CB-460B-99C8-CC15C0A3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真正的问题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资源繁杂、学习节奏不同、结果缺少解释。学生不知道下一步学什么，教师也难以追踪推荐依据。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accent-2">
            <a:extLst xmlns:a="http://schemas.openxmlformats.org/drawingml/2006/main">
              <a:ext uri="{FF2B5EF4-FFF2-40B4-BE49-F238E27FC236}">
                <a16:creationId xmlns:a16="http://schemas.microsoft.com/office/drawing/2014/main" id="{E8C5EA0A-857C-4A40-A87F-1E83BC75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7CD97C6E-92BD-4E39-A47F-0989A6BB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问题定义</a:t>
            </a:r>
          </a:p>
        </p:txBody>
      </p:sp>
    </p:spTree>
    <p:extLst>
      <p:ext uri="{BB962C8B-B14F-4D97-AF65-F5344CB8AC3E}">
        <p14:creationId xmlns:p14="http://schemas.microsoft.com/office/powerpoint/2010/main" val="10538666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9CD8071-AAE2-4677-9FB7-C63768AB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B57C222-EBA4-4112-8C70-7862FFE9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把“因材施教”落成三个可演示、可审计的闭环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60AF705-A5BA-4AB1-99DE-266EAB93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画像证据化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自然语言抽取 7 个维度；学习反馈持续更新，并保留来源与版本。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3ACC49C1-8165-4C7E-A558-962586D2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路径自适应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掌握度与错因驱动推荐；考试结果回写画像与学习路径。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EE5E2400-47E6-49D3-AFCA-A8960B75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资源协同化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六角色组成有依赖的 DAG；生成 6 类真实可下载资源。</a:t>
            </a:r>
          </a:p>
        </p:txBody>
      </p:sp>
      <p:sp>
        <p:nvSpPr>
          <p:cNvPr id="6" name="accent-3">
            <a:extLst xmlns:a="http://schemas.openxmlformats.org/drawingml/2006/main">
              <a:ext uri="{FF2B5EF4-FFF2-40B4-BE49-F238E27FC236}">
                <a16:creationId xmlns:a16="http://schemas.microsoft.com/office/drawing/2014/main" id="{808F11F5-9A56-4973-9351-A29396A5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7" name="footer-3">
            <a:extLst xmlns:a="http://schemas.openxmlformats.org/drawingml/2006/main">
              <a:ext uri="{FF2B5EF4-FFF2-40B4-BE49-F238E27FC236}">
                <a16:creationId xmlns:a16="http://schemas.microsoft.com/office/drawing/2014/main" id="{9166642C-4CA8-44A3-9E0A-96E2BEFF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价值闭环</a:t>
            </a:r>
          </a:p>
        </p:txBody>
      </p:sp>
    </p:spTree>
    <p:extLst>
      <p:ext uri="{BB962C8B-B14F-4D97-AF65-F5344CB8AC3E}">
        <p14:creationId xmlns:p14="http://schemas.microsoft.com/office/powerpoint/2010/main" val="7389021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BA08C547-A291-4B74-AC94-59F8DECB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3AAA641-6001-4A8A-B2D2-C51F199D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校园能力保留，学习闭环独立演进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707201C5-0E1B-49AB-A523-D7B2C03F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95AF826-3BB0-445F-82B6-71C27775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完整 campus，不做功能阉割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React Web 与微信小程序继续承载校园、会议、题库等入口；Java 统一认证与编排，Python 负责画像、资源 DAG、导出与质量门禁，MaxKB 提供 Python 课程依据。</a:t>
            </a:r>
          </a:p>
        </p:txBody>
      </p:sp>
      <p:sp>
        <p:nvSpPr>
          <p:cNvPr id="6" name="architecture-backing">
            <a:extLst xmlns:a="http://schemas.openxmlformats.org/drawingml/2006/main">
              <a:ext uri="{FF2B5EF4-FFF2-40B4-BE49-F238E27FC236}">
                <a16:creationId xmlns:a16="http://schemas.microsoft.com/office/drawing/2014/main" id="{E77D3A23-2971-4391-B59F-F73B0030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285875"/>
            <a:ext cx="5000625" cy="4286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ae011aba81406f"/>
          <a:stretch xmlns:a="http://schemas.openxmlformats.org/drawingml/2006/main"/>
        </p:blipFill>
        <p:spPr>
          <a:xfrm xmlns:a="http://schemas.openxmlformats.org/drawingml/2006/main">
            <a:off x="6543675" y="2086868"/>
            <a:ext cx="4772025" cy="2684264"/>
          </a:xfrm>
          <a:prstGeom xmlns:a="http://schemas.openxmlformats.org/drawingml/2006/main" prst="rect">
            <a:avLst/>
          </a:prstGeom>
        </p:spPr>
      </p:pic>
      <p:sp>
        <p:nvSpPr>
          <p:cNvPr id="8" name="accent-4">
            <a:extLst xmlns:a="http://schemas.openxmlformats.org/drawingml/2006/main">
              <a:ext uri="{FF2B5EF4-FFF2-40B4-BE49-F238E27FC236}">
                <a16:creationId xmlns:a16="http://schemas.microsoft.com/office/drawing/2014/main" id="{29892B86-1F32-43F8-8915-F0ACD440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9" name="footer-4">
            <a:extLst xmlns:a="http://schemas.openxmlformats.org/drawingml/2006/main">
              <a:ext uri="{FF2B5EF4-FFF2-40B4-BE49-F238E27FC236}">
                <a16:creationId xmlns:a16="http://schemas.microsoft.com/office/drawing/2014/main" id="{7DA00A94-81FD-40E3-B933-544ED966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系统架构</a:t>
            </a:r>
          </a:p>
        </p:txBody>
      </p:sp>
    </p:spTree>
    <p:extLst>
      <p:ext uri="{BB962C8B-B14F-4D97-AF65-F5344CB8AC3E}">
        <p14:creationId xmlns:p14="http://schemas.microsoft.com/office/powerpoint/2010/main" val="12984836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D2E7B236-586E-414A-AE66-B63EA3F2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EF241444-CF6B-4B63-A0FE-D57D0BCC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BCD77B1-7C79-4CB2-B842-9E2D7949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A3FB475D-644C-45FE-9ACB-B2928231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6AB9C307-BD1B-4E3C-A244-3469FA7D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对话即画像：7 个维度，随学随新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4BC6F9F-EF41-4A7E-B0B0-54C8B49C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覆盖赛题要求，并保留画像版本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A46C18A-A76A-4E6D-BD56-135B20E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练习、考试、资源反馈持续更新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8E52D53E-843F-4CC2-9C26-4A568393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记录来源、置信度与知识点关联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AD1E80DC-7CD7-47C5-BB97-B375E50A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 维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19FE7983-AE1F-4DF6-A862-719E6472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证据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7DB8DC4D-F1AC-4581-A8A8-43D09946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动态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53AD6B7-44CF-46E3-AF5D-5F8A3C81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动态学生画像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知识基础、认知风格、学习目标、兴趣偏好、易错点、节奏偏好、交互偏好，不靠一次性表单定死。</a:t>
            </a:r>
          </a:p>
        </p:txBody>
      </p:sp>
      <p:sp>
        <p:nvSpPr>
          <p:cNvPr id="13" name="accent-5">
            <a:extLst xmlns:a="http://schemas.openxmlformats.org/drawingml/2006/main">
              <a:ext uri="{FF2B5EF4-FFF2-40B4-BE49-F238E27FC236}">
                <a16:creationId xmlns:a16="http://schemas.microsoft.com/office/drawing/2014/main" id="{A93D5C40-8CDA-4FA4-94B8-2419E464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14" name="footer-5">
            <a:extLst xmlns:a="http://schemas.openxmlformats.org/drawingml/2006/main">
              <a:ext uri="{FF2B5EF4-FFF2-40B4-BE49-F238E27FC236}">
                <a16:creationId xmlns:a16="http://schemas.microsoft.com/office/drawing/2014/main" id="{09305F1E-8455-4177-AF44-6FAE6111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学习画像</a:t>
            </a:r>
          </a:p>
        </p:txBody>
      </p:sp>
    </p:spTree>
    <p:extLst>
      <p:ext uri="{BB962C8B-B14F-4D97-AF65-F5344CB8AC3E}">
        <p14:creationId xmlns:p14="http://schemas.microsoft.com/office/powerpoint/2010/main" val="747124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3F3AC934-DA77-4A26-A88C-A2F28EDB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2056776-C7DB-4C07-BEB6-D1B243B1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六角色 DAG：先规划、再并行生成、最后统一验收</a:t>
            </a:r>
          </a:p>
        </p:txBody>
      </p:sp>
      <p:cxnSp>
        <p:nvCxnSpPr>
          <p:cNvPr id="20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3558CE6-D938-4697-B1FF-014310AB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E32C76E1-9995-4691-A1C2-8EFC9931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107EC95E-D24A-4E02-B0FF-F1D9D8DE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1B310A24-D120-4040-BBDF-D3A4EB76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86B080BF-8AD0-444A-AE4B-D98ECAF7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学习规划 Agent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读取画像与 Python 课程知识点，拆出目标、难度、先修关系和资源任务。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064FE1A-ED2A-47C0-894D-A9D530DA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E6C741E-65EB-460D-9E34-D22201EA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生产 Agent 群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讲解、图谱、题库、代码、拓展和多模态任务按依赖并行执行；单项失败不拖垮整批。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DC9CB9B-043D-452E-B1DF-05FAC453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134187E-D6FF-4361-A2B7-C1B04DCD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质量审阅 Agent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统一检查来源、结构、难度、事实性与安全；输出可追踪状态并支持失败单项重试。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58026744-28C2-44B8-A1AA-AC7D2A19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生产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D98B53C-237D-4101-905F-4070A81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规划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5C4CE1AE-84E9-411C-9B23-BAB76E5A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验收</a:t>
            </a:r>
          </a:p>
        </p:txBody>
      </p:sp>
      <p:sp>
        <p:nvSpPr>
          <p:cNvPr id="16" name="accent-6">
            <a:extLst xmlns:a="http://schemas.openxmlformats.org/drawingml/2006/main">
              <a:ext uri="{FF2B5EF4-FFF2-40B4-BE49-F238E27FC236}">
                <a16:creationId xmlns:a16="http://schemas.microsoft.com/office/drawing/2014/main" id="{17949476-7413-436E-957C-D80BACAA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17" name="footer-6">
            <a:extLst xmlns:a="http://schemas.openxmlformats.org/drawingml/2006/main">
              <a:ext uri="{FF2B5EF4-FFF2-40B4-BE49-F238E27FC236}">
                <a16:creationId xmlns:a16="http://schemas.microsoft.com/office/drawing/2014/main" id="{44DE7D01-4BBA-4213-A34F-8E6B1937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10159827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E968B179-35EF-47BC-9861-6C81A9716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F4F7968-7C31-4085-B1FD-9CA78D0E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一次请求，得到 6 类真正可用的个性化资源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56144CAD-BA49-42A8-8EE4-99D56B07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拓展阅读材料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围绕知识点推荐延伸主题并标注来源</a:t>
            </a:r>
          </a:p>
        </p:txBody>
      </p:sp>
      <p:sp>
        <p:nvSpPr>
          <p:cNvPr id="4" name="Text-Placeholder-16-5">
            <a:extLst xmlns:a="http://schemas.openxmlformats.org/drawingml/2006/main">
              <a:ext uri="{FF2B5EF4-FFF2-40B4-BE49-F238E27FC236}">
                <a16:creationId xmlns:a16="http://schemas.microsoft.com/office/drawing/2014/main" id="{F9D4FD14-7D3A-4EF3-9159-642D796D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多模态图解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生成可验证图像资源与教学脚本</a:t>
            </a:r>
          </a:p>
        </p:txBody>
      </p:sp>
      <p:sp>
        <p:nvSpPr>
          <p:cNvPr id="5" name="Content-Placeholder-17-6">
            <a:extLst xmlns:a="http://schemas.openxmlformats.org/drawingml/2006/main">
              <a:ext uri="{FF2B5EF4-FFF2-40B4-BE49-F238E27FC236}">
                <a16:creationId xmlns:a16="http://schemas.microsoft.com/office/drawing/2014/main" id="{D5280422-F3E1-4957-BB24-B0CEDBEA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真实导出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Markdown、PNG、ZIP 不是假链接</a:t>
            </a:r>
          </a:p>
        </p:txBody>
      </p:sp>
      <p:sp>
        <p:nvSpPr>
          <p:cNvPr id="6" name="Text-Placeholder-18-7">
            <a:extLst xmlns:a="http://schemas.openxmlformats.org/drawingml/2006/main">
              <a:ext uri="{FF2B5EF4-FFF2-40B4-BE49-F238E27FC236}">
                <a16:creationId xmlns:a16="http://schemas.microsoft.com/office/drawing/2014/main" id="{B7531F34-356F-4BD7-A328-75CE457C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4161092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单项重试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仅重跑失败且可重试的资源节点</a:t>
            </a:r>
          </a:p>
        </p:txBody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87696517-C199-4E46-976C-1430B087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课程讲解文档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按画像调整例子、术语密度与讲解深度</a:t>
            </a:r>
          </a:p>
        </p:txBody>
      </p:sp>
      <p:sp>
        <p:nvSpPr>
          <p:cNvPr id="8" name="Text-Placeholder-16-9">
            <a:extLst xmlns:a="http://schemas.openxmlformats.org/drawingml/2006/main">
              <a:ext uri="{FF2B5EF4-FFF2-40B4-BE49-F238E27FC236}">
                <a16:creationId xmlns:a16="http://schemas.microsoft.com/office/drawing/2014/main" id="{0C07CCF7-3441-4849-8263-D349581B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88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知识思维导图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把先修关系与当前薄弱点连成可视结构</a:t>
            </a:r>
          </a:p>
        </p:txBody>
      </p:sp>
      <p:sp>
        <p:nvSpPr>
          <p:cNvPr id="9" name="Content-Placeholder-17-10">
            <a:extLst xmlns:a="http://schemas.openxmlformats.org/drawingml/2006/main">
              <a:ext uri="{FF2B5EF4-FFF2-40B4-BE49-F238E27FC236}">
                <a16:creationId xmlns:a16="http://schemas.microsoft.com/office/drawing/2014/main" id="{8D693795-E5F1-44FE-88B7-0927F22E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分层练习题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客观题、主观题与代码题按难度组合</a:t>
            </a:r>
          </a:p>
        </p:txBody>
      </p:sp>
      <p:sp>
        <p:nvSpPr>
          <p:cNvPr id="10" name="Text-Placeholder-18-11">
            <a:extLst xmlns:a="http://schemas.openxmlformats.org/drawingml/2006/main">
              <a:ext uri="{FF2B5EF4-FFF2-40B4-BE49-F238E27FC236}">
                <a16:creationId xmlns:a16="http://schemas.microsoft.com/office/drawing/2014/main" id="{3355BBEB-A2FE-4FBF-B4CC-952B9D91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722" y="2208086"/>
            <a:ext cx="2595944" cy="14156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代码实操案例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README、可运行源码与验证结果一起导出</a:t>
            </a:r>
          </a:p>
        </p:txBody>
      </p:sp>
      <p:sp>
        <p:nvSpPr>
          <p:cNvPr id="11" name="accent-7">
            <a:extLst xmlns:a="http://schemas.openxmlformats.org/drawingml/2006/main">
              <a:ext uri="{FF2B5EF4-FFF2-40B4-BE49-F238E27FC236}">
                <a16:creationId xmlns:a16="http://schemas.microsoft.com/office/drawing/2014/main" id="{D28930CC-09C5-48FF-9196-6E22C3F3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12" name="footer-7">
            <a:extLst xmlns:a="http://schemas.openxmlformats.org/drawingml/2006/main">
              <a:ext uri="{FF2B5EF4-FFF2-40B4-BE49-F238E27FC236}">
                <a16:creationId xmlns:a16="http://schemas.microsoft.com/office/drawing/2014/main" id="{8D0EA02D-717A-4429-B94C-0E6BCF79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资源生成</a:t>
            </a:r>
          </a:p>
        </p:txBody>
      </p:sp>
    </p:spTree>
    <p:extLst>
      <p:ext uri="{BB962C8B-B14F-4D97-AF65-F5344CB8AC3E}">
        <p14:creationId xmlns:p14="http://schemas.microsoft.com/office/powerpoint/2010/main" val="11740530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13586D6-0ACC-4DE9-B0BE-AB74D56E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C3A35303-698D-4BDB-8DC6-DDDD6DD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学习路径不是静态清单，而是持续循环的决策</a:t>
            </a:r>
          </a:p>
        </p:txBody>
      </p:sp>
      <p:cxnSp>
        <p:nvCxnSpPr>
          <p:cNvPr id="17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D3B6A7C1-2A49-486E-A2D9-A19392D1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0F84CEA0-B074-438C-89E7-D3889A8A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9B4E30D8-F87D-4FF6-B79C-F413BCA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9C091D3D-4C91-4A47-9229-7BC4FC8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 1 步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BD4EA79-101C-4422-BC19-765DA3A4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 2 步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59714C2F-6F91-44E4-87FD-0832A797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持续循环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63031D6D-1171-4D7D-8DF4-730A619C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学习与评测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推送文档、题库、代码与多模态资源；记录使用、作答与反馈。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3E61D6E1-A9D0-4864-96D3-558D6CD8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画像与目标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确认当前掌握度、目标、节奏与偏好，建立可解释的起点。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4B70640-0B52-4E28-8510-CBBB4471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掌握度重规划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根据错因和新证据调整先后顺序、难度与推荐资源。</a:t>
            </a:r>
          </a:p>
        </p:txBody>
      </p:sp>
      <p:sp>
        <p:nvSpPr>
          <p:cNvPr id="13" name="accent-8">
            <a:extLst xmlns:a="http://schemas.openxmlformats.org/drawingml/2006/main">
              <a:ext uri="{FF2B5EF4-FFF2-40B4-BE49-F238E27FC236}">
                <a16:creationId xmlns:a16="http://schemas.microsoft.com/office/drawing/2014/main" id="{4D96248B-D81D-479D-BA40-EF06F500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14" name="footer-8">
            <a:extLst xmlns:a="http://schemas.openxmlformats.org/drawingml/2006/main">
              <a:ext uri="{FF2B5EF4-FFF2-40B4-BE49-F238E27FC236}">
                <a16:creationId xmlns:a16="http://schemas.microsoft.com/office/drawing/2014/main" id="{8EB03B26-FD43-44B7-8EB5-05EA0C9E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动态路径</a:t>
            </a:r>
          </a:p>
        </p:txBody>
      </p:sp>
    </p:spTree>
    <p:extLst>
      <p:ext uri="{BB962C8B-B14F-4D97-AF65-F5344CB8AC3E}">
        <p14:creationId xmlns:p14="http://schemas.microsoft.com/office/powerpoint/2010/main" val="3875465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44D5747D-161F-4D7D-BD49-AF0E552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C1F720CC-E86C-481B-BDC3-5446940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考试提交即反馈：把“测完了”变成“下一步怎么学”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3CB3BF02-EEDC-43CC-A086-38F691D3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作答采集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保存题目、答案、得分与耗时，不只保留总分。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001C930-3CB6-417A-8678-6236091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知识点归因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按知识点聚合正确率、错因与能力证据。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4CEA5955-0C77-4425-8C61-D9EB9AF2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画像更新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更新易错点、掌握度与学习节奏，保留版本。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38863AB-43BD-4EF4-9DC5-00E300EF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 路径重排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触发补弱资源推荐与后续学习步骤调整。</a:t>
            </a:r>
          </a:p>
        </p:txBody>
      </p:sp>
      <p:sp>
        <p:nvSpPr>
          <p:cNvPr id="7" name="accent-9">
            <a:extLst xmlns:a="http://schemas.openxmlformats.org/drawingml/2006/main">
              <a:ext uri="{FF2B5EF4-FFF2-40B4-BE49-F238E27FC236}">
                <a16:creationId xmlns:a16="http://schemas.microsoft.com/office/drawing/2014/main" id="{64A53CE6-7B71-466F-B65F-4D8B37F8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8" name="footer-9">
            <a:extLst xmlns:a="http://schemas.openxmlformats.org/drawingml/2006/main">
              <a:ext uri="{FF2B5EF4-FFF2-40B4-BE49-F238E27FC236}">
                <a16:creationId xmlns:a16="http://schemas.microsoft.com/office/drawing/2014/main" id="{79B6B86E-96BE-49CF-89EA-7F5FC455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效果评估</a:t>
            </a:r>
          </a:p>
        </p:txBody>
      </p:sp>
    </p:spTree>
    <p:extLst>
      <p:ext uri="{BB962C8B-B14F-4D97-AF65-F5344CB8AC3E}">
        <p14:creationId xmlns:p14="http://schemas.microsoft.com/office/powerpoint/2010/main" val="49451945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1DEB87B-9C1F-4E7F-8614-61BD010A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E35A1F5-C2B8-4B2F-9F7E-43F83ED1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防幻觉与内容安全：四道可检查的工程门禁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3303A1E6-3197-4EF6-B93C-D916A9B1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A396234-CE5D-4F7E-8F30-36E76E8B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25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结构校验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Schema + 资源契约，验证真实文件与可解析内容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A266B43C-D494-44D0-9873-A133B502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7D39085-3AC6-433E-8E0D-6318DC3B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知识依据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MaxKB + 本地资料检索，保留来源与引用。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0B05DF3E-72FD-4AE6-8EAF-912587F9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FAF2CFAF-9C92-4A0C-9A6F-230F565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失败治理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幂等 claim + 单项重试，进度与错误持续可见。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D6550C15-864B-42FE-9B3F-61CDB7F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B9EC3D88-52C9-4990-A0E6-54AC6749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边界鉴权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用户归属 + 能力票据，内部令牌 fail closed。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C7CF653-09DE-452A-B7C4-A4754F1C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从“相信模型”转向“验证产物”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每道门禁都能在代码、接口或提交证据中定位；失败必须可见，不用静默降级伪装成功。</a:t>
            </a:r>
          </a:p>
        </p:txBody>
      </p:sp>
      <p:sp>
        <p:nvSpPr>
          <p:cNvPr id="12" name="accent-10">
            <a:extLst xmlns:a="http://schemas.openxmlformats.org/drawingml/2006/main">
              <a:ext uri="{FF2B5EF4-FFF2-40B4-BE49-F238E27FC236}">
                <a16:creationId xmlns:a16="http://schemas.microsoft.com/office/drawing/2014/main" id="{6D0A0E81-F5F4-48D1-87A4-10E38BA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13" name="footer-10">
            <a:extLst xmlns:a="http://schemas.openxmlformats.org/drawingml/2006/main">
              <a:ext uri="{FF2B5EF4-FFF2-40B4-BE49-F238E27FC236}">
                <a16:creationId xmlns:a16="http://schemas.microsoft.com/office/drawing/2014/main" id="{0752B33F-0D21-4275-BBC3-C23B3053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可信与安全</a:t>
            </a:r>
          </a:p>
        </p:txBody>
      </p:sp>
    </p:spTree>
    <p:extLst>
      <p:ext uri="{BB962C8B-B14F-4D97-AF65-F5344CB8AC3E}">
        <p14:creationId xmlns:p14="http://schemas.microsoft.com/office/powerpoint/2010/main" val="4261238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2A29C7E-C937-439D-A928-B943C0D7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5DEA2C4-6089-461E-B291-01F8BB9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我们用新鲜验证证据说话，也明确未完成的外部边界</a:t>
            </a:r>
          </a:p>
        </p:txBody>
      </p:sp>
      <p:sp>
        <p:nvSpPr>
          <p:cNvPr id="3" name="Content-Placeholder-15-4">
            <a:extLst xmlns:a="http://schemas.openxmlformats.org/drawingml/2006/main">
              <a:ext uri="{FF2B5EF4-FFF2-40B4-BE49-F238E27FC236}">
                <a16:creationId xmlns:a16="http://schemas.microsoft.com/office/drawing/2014/main" id="{717D2C52-A143-4D05-AA92-4E4EBED1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提交前质量账本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本地门禁、Boot 4、Compose 配置和知识清单可复验；真实 MaxKB、在线模型与负载测试没有凭据时保持 not_run。</a:t>
            </a:r>
          </a:p>
        </p:txBody>
      </p:sp>
      <p:graphicFrame>
        <p:nvGraphicFramePr>
          <p:cNvPr id="12" name="Google-Shape-644-p93-5"/>
          <p:cNvGraphicFramePr/>
          <p:nvPr/>
        </p:nvGraphicFramePr>
        <p:xfrm>
          <a:off xmlns:a="http://schemas.openxmlformats.org/drawingml/2006/main" x="393668" y="2251043"/>
          <a:ext xmlns:a="http://schemas.openxmlformats.org/drawingml/2006/main" cx="11404568" cy="393258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6107"/>
                <a:gridCol w="1874615"/>
                <a:gridCol w="1874615"/>
                <a:gridCol w="1874615"/>
                <a:gridCol w="1874615"/>
              </a:tblGrid>
              <a:tr h="436954"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Column Label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  <a:tr h="436954">
                <a:tc>
                  <a:txBody>
                    <a:bodyPr/>
                    <a:lstStyle/>
                    <a:p>
                      <a:r>
                        <a:t>Data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$00.000 / item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1,000,000k /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0.00023862381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validation-table-backing">
            <a:extLst xmlns:a="http://schemas.openxmlformats.org/drawingml/2006/main">
              <a:ext uri="{FF2B5EF4-FFF2-40B4-BE49-F238E27FC236}">
                <a16:creationId xmlns:a16="http://schemas.microsoft.com/office/drawing/2014/main" id="{0D53CB66-8472-4256-B086-DB60553D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43125"/>
            <a:ext cx="1160145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graphicFrame>
        <p:nvGraphicFramePr>
          <p:cNvPr id="14" name="validation-evidence-table"/>
          <p:cNvGraphicFramePr/>
          <p:nvPr/>
        </p:nvGraphicFramePr>
        <p:xfrm>
          <a:off xmlns:a="http://schemas.openxmlformats.org/drawingml/2006/main" x="390525" y="2247900"/>
          <a:ext xmlns:a="http://schemas.openxmlformats.org/drawingml/2006/main" cx="11401425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428750"/>
                <a:gridCol w="1143000"/>
                <a:gridCol w="3714750"/>
                <a:gridCol w="3305175"/>
              </a:tblGrid>
              <a:tr h="491728">
                <a:tc>
                  <a:txBody>
                    <a:bodyPr/>
                    <a:lstStyle/>
                    <a:p>
                      <a:r>
                        <a:t>验证层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新鲜证据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覆盖重点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边界说明</a:t>
                      </a:r>
                    </a:p>
                  </a:txBody>
                  <a:tcPr marL="91440" marR="91440" marT="45720" marB="45720"/>
                </a:tc>
              </a:tr>
              <a:tr h="491728">
                <a:tc>
                  <a:txBody>
                    <a:bodyPr/>
                    <a:lstStyle/>
                    <a:p>
                      <a:r>
                        <a:t>AppBackend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389 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Boot 4 / 工作流 / 鉴权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真实 Redis 待联调</a:t>
                      </a:r>
                    </a:p>
                  </a:txBody>
                  <a:tcPr marL="91440" marR="91440" marT="45720" marB="45720"/>
                </a:tc>
              </a:tr>
              <a:tr h="491728">
                <a:tc>
                  <a:txBody>
                    <a:bodyPr/>
                    <a:lstStyle/>
                    <a:p>
                      <a:r>
                        <a:t>AI 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264 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画像 / DAG / 导出 / 安全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真实模型待联调</a:t>
                      </a:r>
                    </a:p>
                  </a:txBody>
                  <a:tcPr marL="91440" marR="91440" marT="45720" marB="45720"/>
                </a:tc>
              </a:tr>
              <a:tr h="491728">
                <a:tc>
                  <a:txBody>
                    <a:bodyPr/>
                    <a:lstStyle/>
                    <a:p>
                      <a:r>
                        <a:t>AppWeb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46 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学习中心 / 流式交互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浏览器实机待录屏</a:t>
                      </a:r>
                    </a:p>
                  </a:txBody>
                  <a:tcPr marL="91440" marR="91440" marT="45720" marB="45720"/>
                </a:tc>
              </a:tr>
              <a:tr h="491728">
                <a:tc>
                  <a:txBody>
                    <a:bodyPr/>
                    <a:lstStyle/>
                    <a:p>
                      <a:r>
                        <a:t>AppFrontend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93 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校园端完整保留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未删减校园入口</a:t>
                      </a:r>
                    </a:p>
                  </a:txBody>
                  <a:tcPr marL="91440" marR="91440" marT="45720" marB="45720"/>
                </a:tc>
              </a:tr>
              <a:tr h="491728">
                <a:tc>
                  <a:txBody>
                    <a:bodyPr/>
                    <a:lstStyle/>
                    <a:p>
                      <a:r>
                        <a:t>Release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 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通过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Compose / 门禁 / 清单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外部服务需凭据</a:t>
                      </a:r>
                    </a:p>
                  </a:txBody>
                  <a:tcPr marL="91440" marR="91440" marT="45720" marB="45720"/>
                </a:tc>
              </a:tr>
              <a:tr h="491728">
                <a:tc>
                  <a:txBody>
                    <a:bodyPr/>
                    <a:lstStyle/>
                    <a:p>
                      <a:r>
                        <a:t>知识库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manifest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可校验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Python 课程来源与校验和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状态 needs_export</a:t>
                      </a:r>
                    </a:p>
                  </a:txBody>
                  <a:tcPr marL="91440" marR="91440" marT="45720" marB="45720"/>
                </a:tc>
              </a:tr>
              <a:tr h="491728">
                <a:tc>
                  <a:txBody>
                    <a:bodyPr/>
                    <a:lstStyle/>
                    <a:p>
                      <a:r>
                        <a:t>在线评测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not_run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诚实标注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事实性 / 负载脚本已备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不伪造线上指标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accent-11">
            <a:extLst xmlns:a="http://schemas.openxmlformats.org/drawingml/2006/main">
              <a:ext uri="{FF2B5EF4-FFF2-40B4-BE49-F238E27FC236}">
                <a16:creationId xmlns:a16="http://schemas.microsoft.com/office/drawing/2014/main" id="{56112BB2-4127-4D7C-B2FB-95CAAE7A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"/>
            <a:ext cx="66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  <a:prstDash val="solid"/>
          </a:ln>
        </p:spPr>
      </p:sp>
      <p:sp>
        <p:nvSpPr>
          <p:cNvPr id="8" name="footer-11">
            <a:extLst xmlns:a="http://schemas.openxmlformats.org/drawingml/2006/main">
              <a:ext uri="{FF2B5EF4-FFF2-40B4-BE49-F238E27FC236}">
                <a16:creationId xmlns:a16="http://schemas.microsoft.com/office/drawing/2014/main" id="{E7AC8D09-7F2D-4080-96D9-C45D39DA6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9636B"/>
                </a:solidFill>
                <a:latin typeface="PingFang SC"/>
                <a:ea typeface="PingFang SC"/>
                <a:cs typeface="PingFang SC"/>
              </a:rPr>
              <a:t>AgentA3 · 中国软件杯 A3 · 验证证据</a:t>
            </a:r>
          </a:p>
        </p:txBody>
      </p:sp>
    </p:spTree>
    <p:extLst>
      <p:ext uri="{BB962C8B-B14F-4D97-AF65-F5344CB8AC3E}">
        <p14:creationId xmlns:p14="http://schemas.microsoft.com/office/powerpoint/2010/main" val="18477110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553057AC-207C-40EE-845E-8096968F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让评委看到
一条能闭环的学习证据链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0E2B105-2DD9-498E-A7D9-77A8EE01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Python 课程贯穿全链路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校园端完整保留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结果可追踪、可复验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A22A66CE-9E60-4FF7-A022-F72BB06B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AgentA3</a:t>
            </a:r>
          </a:p>
        </p:txBody>
      </p:sp>
      <p:sp>
        <p:nvSpPr>
          <p:cNvPr id="4" name="closing-proof">
            <a:extLst xmlns:a="http://schemas.openxmlformats.org/drawingml/2006/main">
              <a:ext uri="{FF2B5EF4-FFF2-40B4-BE49-F238E27FC236}">
                <a16:creationId xmlns:a16="http://schemas.microsoft.com/office/drawing/2014/main" id="{1367DFA7-205E-4853-BF68-AF015AAF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067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007C83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7C83"/>
                </a:solidFill>
                <a:latin typeface="PingFang SC"/>
                <a:ea typeface="PingFang SC"/>
                <a:cs typeface="PingFang SC"/>
              </a:rPr>
              <a:t>完整功能 × 技术深度 × 可信证据</a:t>
            </a:r>
          </a:p>
        </p:txBody>
      </p:sp>
      <p:sp>
        <p:nvSpPr>
          <p:cNvPr id="5" name="closing-watermark">
            <a:extLst xmlns:a="http://schemas.openxmlformats.org/drawingml/2006/main">
              <a:ext uri="{FF2B5EF4-FFF2-40B4-BE49-F238E27FC236}">
                <a16:creationId xmlns:a16="http://schemas.microsoft.com/office/drawing/2014/main" id="{06578474-D18C-447D-B020-44B38D30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85725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0" b="1">
                <a:solidFill>
                  <a:srgbClr val="E7F4F4"/>
                </a:solidFill>
                <a:latin typeface="PingFang SC"/>
                <a:ea typeface="PingFang SC"/>
                <a:cs typeface="PingFang SC"/>
              </a:defRPr>
            </a:pPr>
            <a:r>
              <a:rPr sz="8400" b="1">
                <a:solidFill>
                  <a:srgbClr val="E7F4F4"/>
                </a:solidFill>
                <a:latin typeface="PingFang SC"/>
                <a:ea typeface="PingFang SC"/>
                <a:cs typeface="PingFang SC"/>
              </a:rPr>
              <a:t>A3</a:t>
            </a:r>
          </a:p>
        </p:txBody>
      </p:sp>
    </p:spTree>
    <p:extLst>
      <p:ext uri="{BB962C8B-B14F-4D97-AF65-F5344CB8AC3E}">
        <p14:creationId xmlns:p14="http://schemas.microsoft.com/office/powerpoint/2010/main" val="11329453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2026-07-15T12:00:52.0140000Z</dcterms:created>
  <dcterms:modified xsi:type="dcterms:W3CDTF">2026-07-15T12:00:52.0140000Z</dcterms:modified>
</coreProperties>
</file>